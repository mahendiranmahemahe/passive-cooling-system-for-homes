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62" r:id="rId1"/>
    <p:sldMasterId id="2147483674" r:id="rId2"/>
    <p:sldMasterId id="2147483664" r:id="rId3"/>
    <p:sldMasterId id="2147483666" r:id="rId4"/>
    <p:sldMasterId id="2147483668" r:id="rId5"/>
    <p:sldMasterId id="2147483672" r:id="rId6"/>
  </p:sldMasterIdLst>
  <p:notesMasterIdLst>
    <p:notesMasterId r:id="rId8"/>
  </p:notesMasterIdLst>
  <p:handoutMasterIdLst>
    <p:handoutMasterId r:id="rId9"/>
  </p:handoutMasterIdLst>
  <p:sldIdLst>
    <p:sldId id="259" r:id="rId7"/>
  </p:sldIdLst>
  <p:sldSz cx="21388388" cy="30279975"/>
  <p:notesSz cx="14663738" cy="20926425"/>
  <p:embeddedFontLst>
    <p:embeddedFont>
      <p:font typeface="Rdg Vesta" panose="020B0604020202020204" charset="0"/>
      <p:regular r:id="rId10"/>
      <p:bold r:id="rId11"/>
      <p:italic r:id="rId12"/>
      <p:boldItalic r:id="rId13"/>
    </p:embeddedFont>
  </p:embeddedFontLst>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6591">
          <p15:clr>
            <a:srgbClr val="A4A3A4"/>
          </p15:clr>
        </p15:guide>
        <p15:guide id="2" pos="461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6E6E6"/>
    <a:srgbClr val="106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440" autoAdjust="0"/>
  </p:normalViewPr>
  <p:slideViewPr>
    <p:cSldViewPr showGuides="1">
      <p:cViewPr>
        <p:scale>
          <a:sx n="53" d="100"/>
          <a:sy n="53" d="100"/>
        </p:scale>
        <p:origin x="317" y="-1267"/>
      </p:cViewPr>
      <p:guideLst>
        <p:guide orient="horz"/>
        <p:guide pos="5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34" d="100"/>
          <a:sy n="34" d="100"/>
        </p:scale>
        <p:origin x="-3366" y="-90"/>
      </p:cViewPr>
      <p:guideLst>
        <p:guide orient="horz" pos="6591"/>
        <p:guide pos="461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font" Target="fonts/font2.fntdata"/><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handoutMaster" Target="handoutMasters/handoutMaster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GB"/>
          </a:p>
        </p:txBody>
      </p:sp>
      <p:sp>
        <p:nvSpPr>
          <p:cNvPr id="48131" name="Rectangle 3"/>
          <p:cNvSpPr>
            <a:spLocks noGrp="1" noChangeArrowheads="1"/>
          </p:cNvSpPr>
          <p:nvPr>
            <p:ph type="dt" sz="quarter" idx="1"/>
          </p:nvPr>
        </p:nvSpPr>
        <p:spPr bwMode="auto">
          <a:xfrm>
            <a:off x="830580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GB"/>
          </a:p>
        </p:txBody>
      </p:sp>
      <p:sp>
        <p:nvSpPr>
          <p:cNvPr id="48132" name="Rectangle 4"/>
          <p:cNvSpPr>
            <a:spLocks noGrp="1" noChangeArrowheads="1"/>
          </p:cNvSpPr>
          <p:nvPr>
            <p:ph type="ftr" sz="quarter" idx="2"/>
          </p:nvPr>
        </p:nvSpPr>
        <p:spPr bwMode="auto">
          <a:xfrm>
            <a:off x="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GB"/>
          </a:p>
        </p:txBody>
      </p:sp>
      <p:sp>
        <p:nvSpPr>
          <p:cNvPr id="48133" name="Rectangle 5"/>
          <p:cNvSpPr>
            <a:spLocks noGrp="1" noChangeArrowheads="1"/>
          </p:cNvSpPr>
          <p:nvPr>
            <p:ph type="sldNum" sz="quarter" idx="3"/>
          </p:nvPr>
        </p:nvSpPr>
        <p:spPr bwMode="auto">
          <a:xfrm>
            <a:off x="830580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6354763"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defTabSz="2033588" eaLnBrk="0" hangingPunct="0">
              <a:defRPr sz="2700"/>
            </a:lvl1pPr>
          </a:lstStyle>
          <a:p>
            <a:pPr>
              <a:defRPr/>
            </a:pPr>
            <a:endParaRPr lang="en-GB"/>
          </a:p>
        </p:txBody>
      </p:sp>
      <p:sp>
        <p:nvSpPr>
          <p:cNvPr id="4099" name="Rectangle 3"/>
          <p:cNvSpPr>
            <a:spLocks noGrp="1" noChangeArrowheads="1"/>
          </p:cNvSpPr>
          <p:nvPr>
            <p:ph type="dt" idx="1"/>
          </p:nvPr>
        </p:nvSpPr>
        <p:spPr bwMode="auto">
          <a:xfrm>
            <a:off x="8305800" y="0"/>
            <a:ext cx="6356350"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algn="r" defTabSz="2033588" eaLnBrk="0" hangingPunct="0">
              <a:defRPr sz="2700"/>
            </a:lvl1pPr>
          </a:lstStyle>
          <a:p>
            <a:pPr>
              <a:defRPr/>
            </a:pPr>
            <a:endParaRPr lang="en-GB"/>
          </a:p>
        </p:txBody>
      </p:sp>
      <p:sp>
        <p:nvSpPr>
          <p:cNvPr id="3076" name="Rectangle 4"/>
          <p:cNvSpPr>
            <a:spLocks noGrp="1" noRot="1" noChangeAspect="1" noChangeArrowheads="1" noTextEdit="1"/>
          </p:cNvSpPr>
          <p:nvPr>
            <p:ph type="sldImg" idx="2"/>
          </p:nvPr>
        </p:nvSpPr>
        <p:spPr bwMode="auto">
          <a:xfrm>
            <a:off x="4564063" y="1570038"/>
            <a:ext cx="5543550" cy="78501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1466850" y="9942513"/>
            <a:ext cx="11730038" cy="9413875"/>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19877088"/>
            <a:ext cx="6354763"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defTabSz="2033588" eaLnBrk="0" hangingPunct="0">
              <a:defRPr sz="2700"/>
            </a:lvl1pPr>
          </a:lstStyle>
          <a:p>
            <a:pPr>
              <a:defRPr/>
            </a:pPr>
            <a:endParaRPr lang="en-GB"/>
          </a:p>
        </p:txBody>
      </p:sp>
      <p:sp>
        <p:nvSpPr>
          <p:cNvPr id="4103" name="Rectangle 7"/>
          <p:cNvSpPr>
            <a:spLocks noGrp="1" noChangeArrowheads="1"/>
          </p:cNvSpPr>
          <p:nvPr>
            <p:ph type="sldNum" sz="quarter" idx="5"/>
          </p:nvPr>
        </p:nvSpPr>
        <p:spPr bwMode="auto">
          <a:xfrm>
            <a:off x="8305800" y="19877088"/>
            <a:ext cx="6356350"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algn="r" defTabSz="2033588" eaLnBrk="0" hangingPunct="0">
              <a:defRPr sz="27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18080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0" indent="0">
              <a:spcBef>
                <a:spcPts val="1400"/>
              </a:spcBef>
              <a:buNone/>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endParaRPr kumimoji="0" lang="en-US"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p:txBody>
          <a:bodyPr/>
          <a:lstStyle>
            <a:lvl1pPr>
              <a:defRPr b="1"/>
            </a:lvl1pPr>
          </a:lstStyle>
          <a:p>
            <a:r>
              <a:rPr lang="en-US" dirty="0"/>
              <a:t>Click to edit Master title style</a:t>
            </a:r>
            <a:endParaRPr lang="en-GB" dirty="0"/>
          </a:p>
        </p:txBody>
      </p:sp>
    </p:spTree>
    <p:extLst>
      <p:ext uri="{BB962C8B-B14F-4D97-AF65-F5344CB8AC3E}">
        <p14:creationId xmlns:p14="http://schemas.microsoft.com/office/powerpoint/2010/main" val="1796732571"/>
      </p:ext>
    </p:extLst>
  </p:cSld>
  <p:clrMapOvr>
    <a:masterClrMapping/>
  </p:clrMapOvr>
  <p:extLst mod="1">
    <p:ext uri="{DCECCB84-F9BA-43D5-87BE-67443E8EF086}">
      <p15:sldGuideLst xmlns:p15="http://schemas.microsoft.com/office/powerpoint/2012/main">
        <p15:guide id="1" orient="horz" pos="9537" userDrawn="1">
          <p15:clr>
            <a:srgbClr val="FBAE40"/>
          </p15:clr>
        </p15:guide>
        <p15:guide id="2" pos="67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467045"/>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400" dirty="0">
                <a:solidFill>
                  <a:srgbClr val="FFFFFF"/>
                </a:solidFill>
                <a:latin typeface="Arial" panose="020B0604020202020204" pitchFamily="34" charset="0"/>
                <a:cs typeface="Arial" panose="020B0604020202020204" pitchFamily="34" charset="0"/>
              </a:rPr>
              <a:t>SRIDHAR B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YOGESWARI G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MAHENDIRAN M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SARATH M R </a:t>
            </a: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323850" y="5635625"/>
            <a:ext cx="10217149" cy="24120052"/>
          </a:xfrm>
          <a:prstGeom prst="rect">
            <a:avLst/>
          </a:prstGeom>
          <a:noFill/>
          <a:ln w="9525">
            <a:noFill/>
            <a:miter lim="800000"/>
            <a:headEnd/>
            <a:tailEnd/>
          </a:ln>
          <a:effectLst/>
        </p:spPr>
        <p:txBody>
          <a:bodyPr lIns="0" tIns="0" rIns="0" bIns="0"/>
          <a:lstStyle/>
          <a:p>
            <a:pPr marL="446088" indent="-446088">
              <a:spcBef>
                <a:spcPts val="0"/>
              </a:spcBef>
              <a:buNone/>
            </a:pPr>
            <a:r>
              <a:rPr lang="en-GB" sz="3300" b="1" dirty="0">
                <a:solidFill>
                  <a:schemeClr val="tx2"/>
                </a:solidFill>
                <a:latin typeface="Arial" panose="020B0604020202020204" pitchFamily="34" charset="0"/>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Project Abstract</a:t>
            </a:r>
          </a:p>
          <a:p>
            <a:pPr marL="358775" indent="-358775" algn="just">
              <a:spcBef>
                <a:spcPts val="600"/>
              </a:spcBef>
              <a:buNone/>
            </a:pPr>
            <a:r>
              <a:rPr lang="en-US" sz="2000" dirty="0"/>
              <a:t>      </a:t>
            </a:r>
            <a:r>
              <a:rPr lang="en-US" sz="1600" dirty="0">
                <a:latin typeface="+mn-lt"/>
              </a:rPr>
              <a:t>This project presents a Passive Cooling System for Homes that reduces indoor temperature using natural cooling techniques such as thermal insulation, reflective materials, shading, and natural ventilation. An ESP32-based monitoring system with DS18B20 temperature sensors records indoor and outdoor temperatures for performance analysis. Experimental results show that the system reduces indoor temperature by 5–7°C, improving thermal comfort while reducing energy consumption. The proposed system is a low-cost, eco-friendly, and sustainable solution for residential buildings in tropical regions</a:t>
            </a: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Problem Statement</a:t>
            </a:r>
          </a:p>
          <a:p>
            <a:pPr marL="358775" indent="-358775" algn="just">
              <a:spcBef>
                <a:spcPts val="600"/>
              </a:spcBef>
              <a:buNone/>
            </a:pPr>
            <a:r>
              <a:rPr lang="en-US" sz="1400" dirty="0">
                <a:latin typeface="+mn-lt"/>
              </a:rPr>
              <a:t>       </a:t>
            </a:r>
            <a:r>
              <a:rPr lang="en-US" sz="1600" dirty="0">
                <a:latin typeface="+mn-lt"/>
              </a:rPr>
              <a:t>Residential buildings in tropical regions consume significant electrical energy for air conditioning. Conventional cooling systems increase electricity bills and greenhouse gas emissions. There is a need for an affordable, energy-efficient cooling solution that maintains indoor comfort without relying on mechanical cooling systems</a:t>
            </a: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Need for the Project</a:t>
            </a:r>
          </a:p>
          <a:p>
            <a:pPr marL="358775" indent="-358775" algn="just">
              <a:spcBef>
                <a:spcPts val="600"/>
              </a:spcBef>
              <a:buNone/>
            </a:pPr>
            <a:r>
              <a:rPr lang="en-US" sz="2000" dirty="0"/>
              <a:t>       </a:t>
            </a:r>
            <a:r>
              <a:rPr lang="en-US" sz="1600" dirty="0">
                <a:latin typeface="+mn-lt"/>
              </a:rPr>
              <a:t>The project is needed to reduce indoor temperature naturally, minimize electricity consumption, improve thermal comfort, and provide a cost-effective, energy-efficient, and environmentally friendly cooling solution for homes in tropical regions</a:t>
            </a:r>
            <a:r>
              <a:rPr lang="en-US" sz="1600" b="1" dirty="0">
                <a:latin typeface="+mn-lt"/>
              </a:rPr>
              <a:t>.</a:t>
            </a:r>
            <a:r>
              <a:rPr lang="en-US" sz="1600" dirty="0">
                <a:latin typeface="+mn-lt"/>
              </a:rPr>
              <a:t> </a:t>
            </a:r>
            <a:endParaRPr lang="en-GB" sz="1600" dirty="0">
              <a:latin typeface="+mn-lt"/>
            </a:endParaRPr>
          </a:p>
          <a:p>
            <a:pPr marL="358775" indent="-358775" algn="just">
              <a:spcBef>
                <a:spcPts val="600"/>
              </a:spcBef>
              <a:buNone/>
            </a:pPr>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Project Objectives</a:t>
            </a:r>
          </a:p>
          <a:p>
            <a:pPr algn="just"/>
            <a:r>
              <a:rPr lang="en-US" sz="2000" dirty="0"/>
              <a:t>           </a:t>
            </a:r>
            <a:r>
              <a:rPr lang="en-US" sz="1600" dirty="0">
                <a:latin typeface="+mn-lt"/>
              </a:rPr>
              <a:t>To design a low-cost passive cooling system for residential buildings. </a:t>
            </a:r>
          </a:p>
          <a:p>
            <a:pPr algn="just"/>
            <a:r>
              <a:rPr lang="en-US" sz="1600" dirty="0">
                <a:latin typeface="+mn-lt"/>
              </a:rPr>
              <a:t>           To monitor indoor and outdoor temperatures using an ESP32-based system.  </a:t>
            </a:r>
          </a:p>
          <a:p>
            <a:pPr algn="just"/>
            <a:r>
              <a:rPr lang="en-US" sz="1600" dirty="0">
                <a:latin typeface="+mn-lt"/>
              </a:rPr>
              <a:t>           To improve thermal comfort while reducing energy consumption. </a:t>
            </a:r>
            <a:endParaRPr lang="en-GB" sz="1600" dirty="0">
              <a:latin typeface="+mn-lt"/>
            </a:endParaRPr>
          </a:p>
          <a:p>
            <a:pPr algn="just"/>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Expected Learning Outcomes</a:t>
            </a:r>
          </a:p>
          <a:p>
            <a:r>
              <a:rPr lang="en-US" sz="1600" dirty="0"/>
              <a:t>           </a:t>
            </a:r>
            <a:r>
              <a:rPr lang="en-US" sz="1600" dirty="0">
                <a:latin typeface="+mn-lt"/>
              </a:rPr>
              <a:t>  Achieve a 5–7°C reduction in indoor temperature. </a:t>
            </a:r>
          </a:p>
          <a:p>
            <a:r>
              <a:rPr lang="en-US" sz="1600" dirty="0">
                <a:latin typeface="+mn-lt"/>
              </a:rPr>
              <a:t>          Improve thermal comfort with reduced energy consumption.</a:t>
            </a:r>
          </a:p>
          <a:p>
            <a:r>
              <a:rPr lang="en-US" sz="1400" b="1" kern="1200" dirty="0">
                <a:solidFill>
                  <a:schemeClr val="tx2"/>
                </a:solidFill>
                <a:latin typeface="+mn-lt"/>
                <a:cs typeface="Arial" panose="020B0604020202020204" pitchFamily="34" charset="0"/>
              </a:rPr>
              <a:t>      </a:t>
            </a:r>
            <a:r>
              <a:rPr lang="en-US" sz="1400" b="1"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System Requirements</a:t>
            </a:r>
          </a:p>
          <a:p>
            <a:pPr marL="358775" indent="-358775">
              <a:spcBef>
                <a:spcPts val="1000"/>
              </a:spcBef>
              <a:buNone/>
            </a:pPr>
            <a:r>
              <a:rPr lang="en-GB" sz="2200" b="1" kern="1200" dirty="0"/>
              <a:t>      </a:t>
            </a:r>
            <a:r>
              <a:rPr lang="en-GB" sz="1600" b="1" kern="1200" dirty="0">
                <a:latin typeface="+mn-lt"/>
              </a:rPr>
              <a:t>Hardware:</a:t>
            </a:r>
            <a:r>
              <a:rPr lang="en-US" sz="1600" dirty="0">
                <a:latin typeface="+mn-lt"/>
              </a:rPr>
              <a:t>The hardware consists of an ESP32 microcontroller, two DS18B20 temperature sensors, a DS3231 RTC module, an SD card module, a power supply, and connecting wires for temperature monitoring and data logging. </a:t>
            </a:r>
          </a:p>
          <a:p>
            <a:pPr marL="357000">
              <a:spcBef>
                <a:spcPts val="600"/>
              </a:spcBef>
            </a:pPr>
            <a:r>
              <a:rPr lang="en-GB" sz="1600" b="1" kern="1200" dirty="0">
                <a:latin typeface="+mn-lt"/>
              </a:rPr>
              <a:t>Software</a:t>
            </a:r>
            <a:r>
              <a:rPr lang="en-GB" sz="1600" b="1" dirty="0">
                <a:latin typeface="+mn-lt"/>
              </a:rPr>
              <a:t>:</a:t>
            </a:r>
            <a:r>
              <a:rPr lang="en-US" sz="1600" dirty="0">
                <a:latin typeface="+mn-lt"/>
              </a:rPr>
              <a:t>The software includes Arduino IDE for programming the ESP32, Embedded C for code development, and Microsoft Excel for analyzing the recorded temperature data. </a:t>
            </a:r>
            <a:endParaRPr lang="en-GB" sz="1600" dirty="0">
              <a:latin typeface="+mn-lt"/>
            </a:endParaRPr>
          </a:p>
          <a:p>
            <a:pPr marL="357000">
              <a:spcBef>
                <a:spcPts val="600"/>
              </a:spcBef>
            </a:pPr>
            <a:r>
              <a:rPr lang="en-GB" sz="3300" b="1" kern="1200" dirty="0">
                <a:solidFill>
                  <a:schemeClr val="tx2"/>
                </a:solidFill>
                <a:latin typeface="Arial" panose="020B0604020202020204" pitchFamily="34" charset="0"/>
                <a:cs typeface="Arial" panose="020B0604020202020204" pitchFamily="34" charset="0"/>
              </a:rPr>
              <a:t>Methodology / Workflow</a:t>
            </a:r>
          </a:p>
          <a:p>
            <a:pPr marL="358775" indent="-358775">
              <a:spcBef>
                <a:spcPts val="600"/>
              </a:spcBef>
              <a:buNone/>
            </a:pPr>
            <a:r>
              <a:rPr lang="en-US" sz="2000" dirty="0"/>
              <a:t>       </a:t>
            </a:r>
            <a:r>
              <a:rPr lang="en-US" sz="1600" dirty="0">
                <a:latin typeface="+mn-lt"/>
              </a:rPr>
              <a:t>Literature Survey → System Design → Prototype Development → ESP32 &amp; Sensor Integration → Temperature Monitoring → Data Logging → Performance Analysis → Results &amp; Conclusion</a:t>
            </a:r>
            <a:endParaRPr lang="en-GB" sz="1600" dirty="0">
              <a:latin typeface="+mn-lt"/>
            </a:endParaRPr>
          </a:p>
          <a:p>
            <a:pPr marL="358775" indent="-358775">
              <a:spcBef>
                <a:spcPts val="600"/>
              </a:spcBef>
              <a:buNone/>
            </a:pPr>
            <a:r>
              <a:rPr lang="en-GB" sz="1400" b="1" kern="1200" dirty="0">
                <a:solidFill>
                  <a:schemeClr val="tx2"/>
                </a:solidFill>
                <a:latin typeface="+mn-lt"/>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System Architecture</a:t>
            </a:r>
          </a:p>
          <a:p>
            <a:pPr marL="358775" indent="-358775">
              <a:spcBef>
                <a:spcPts val="600"/>
              </a:spcBef>
              <a:buNone/>
            </a:pPr>
            <a:endParaRPr lang="en-GB" sz="1900" kern="1200" dirty="0"/>
          </a:p>
          <a:p>
            <a:pPr>
              <a:spcBef>
                <a:spcPts val="900"/>
              </a:spcBef>
            </a:pPr>
            <a:endParaRPr lang="en-GB" sz="1000" dirty="0"/>
          </a:p>
          <a:p>
            <a:pPr>
              <a:spcBef>
                <a:spcPts val="900"/>
              </a:spcBef>
            </a:pPr>
            <a:endParaRPr lang="en-GB" sz="1000" dirty="0"/>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Block Diagram</a:t>
            </a:r>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endParaRPr lang="en-GB" sz="3300" b="1" kern="1200" dirty="0">
              <a:solidFill>
                <a:schemeClr val="tx2"/>
              </a:solidFill>
              <a:latin typeface="Arial" panose="020B0604020202020204" pitchFamily="34" charset="0"/>
              <a:cs typeface="Arial" panose="020B0604020202020204" pitchFamily="34" charset="0"/>
            </a:endParaRP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Project Development Process</a:t>
            </a:r>
          </a:p>
          <a:p>
            <a:pPr marL="358775" indent="-358775" algn="just">
              <a:spcBef>
                <a:spcPts val="600"/>
              </a:spcBef>
              <a:buNone/>
            </a:pPr>
            <a:r>
              <a:rPr lang="en-IN" sz="1600" dirty="0"/>
              <a:t>         </a:t>
            </a:r>
            <a:r>
              <a:rPr lang="en-IN" sz="1600" dirty="0">
                <a:latin typeface="+mn-lt"/>
              </a:rPr>
              <a:t>Problem Identification → Literature Survey → System Design → Prototype Development → Hardware Integration → Testing→ Result Analysis → Conclusion</a:t>
            </a:r>
            <a:r>
              <a:rPr lang="en-GB" sz="3300" kern="1200" dirty="0">
                <a:solidFill>
                  <a:schemeClr val="tx2"/>
                </a:solidFill>
                <a:latin typeface="Arial" panose="020B0604020202020204" pitchFamily="34" charset="0"/>
                <a:cs typeface="Arial" panose="020B0604020202020204" pitchFamily="34" charset="0"/>
              </a:rPr>
              <a:t>	</a:t>
            </a:r>
          </a:p>
          <a:p>
            <a:pPr marL="358775" indent="-358775" algn="just">
              <a:spcBef>
                <a:spcPts val="600"/>
              </a:spcBef>
              <a:buNone/>
            </a:pPr>
            <a:r>
              <a:rPr lang="en-GB" sz="3300" b="1" kern="1200" dirty="0">
                <a:solidFill>
                  <a:schemeClr val="tx2"/>
                </a:solidFill>
                <a:latin typeface="Arial" panose="020B0604020202020204" pitchFamily="34" charset="0"/>
                <a:cs typeface="Arial" panose="020B0604020202020204" pitchFamily="34" charset="0"/>
              </a:rPr>
              <a:t>    Implementation</a:t>
            </a:r>
          </a:p>
          <a:p>
            <a:pPr marL="358775" indent="-358775" algn="just">
              <a:spcBef>
                <a:spcPts val="600"/>
              </a:spcBef>
              <a:buNone/>
            </a:pPr>
            <a:r>
              <a:rPr lang="en-US" sz="2000" dirty="0"/>
              <a:t>       </a:t>
            </a:r>
            <a:r>
              <a:rPr lang="en-US" sz="1600" dirty="0">
                <a:latin typeface="+mn-lt"/>
              </a:rPr>
              <a:t>The passive cooling prototype was developed using thermal insulation, reflective roofing, and natural ventilation techniques. An ESP32-based monitoring system with DS18B20 temperature sensors was integrated to measure and record indoor and outdoor temperatures for performance evaluation.</a:t>
            </a:r>
            <a:r>
              <a:rPr lang="en-GB" sz="1900" kern="1200" dirty="0"/>
              <a:t>.</a:t>
            </a: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Algorithms / Models Used</a:t>
            </a:r>
          </a:p>
          <a:p>
            <a:pPr marL="714375" indent="-357375">
              <a:spcBef>
                <a:spcPts val="600"/>
              </a:spcBef>
              <a:buFont typeface="Arial" pitchFamily="34" charset="0"/>
              <a:buChar char="•"/>
            </a:pPr>
            <a:r>
              <a:rPr lang="en-GB" sz="1900" b="1" kern="1200" dirty="0"/>
              <a:t>Algorithm / model 1</a:t>
            </a:r>
            <a:r>
              <a:rPr lang="en-GB" sz="1900" kern="1200" dirty="0"/>
              <a:t>:</a:t>
            </a:r>
            <a:r>
              <a:rPr lang="en-IN" sz="1600" dirty="0">
                <a:latin typeface="+mn-lt"/>
              </a:rPr>
              <a:t>Passive Cooling Technique (Natural Ventilation &amp; Thermal Insulation)</a:t>
            </a:r>
            <a:endParaRPr lang="en-GB" sz="1600" kern="1200" dirty="0">
              <a:latin typeface="+mn-lt"/>
            </a:endParaRPr>
          </a:p>
          <a:p>
            <a:pPr marL="714375" indent="-357375">
              <a:spcBef>
                <a:spcPts val="600"/>
              </a:spcBef>
              <a:buFont typeface="Arial" pitchFamily="34" charset="0"/>
              <a:buChar char="•"/>
            </a:pPr>
            <a:r>
              <a:rPr lang="en-GB" sz="1900" b="1" kern="1200" dirty="0"/>
              <a:t>Algorithm / model 2:</a:t>
            </a:r>
            <a:r>
              <a:rPr lang="en-US" sz="1600" dirty="0">
                <a:latin typeface="+mn-lt"/>
              </a:rPr>
              <a:t>ESP32-Based Temperature Monitoring and Data Logging System</a:t>
            </a:r>
            <a:endParaRPr lang="en-GB" sz="1600" b="1" kern="1200" dirty="0">
              <a:latin typeface="+mn-lt"/>
            </a:endParaRPr>
          </a:p>
        </p:txBody>
      </p:sp>
      <p:sp>
        <p:nvSpPr>
          <p:cNvPr id="2054" name="Rectangle 2"/>
          <p:cNvSpPr>
            <a:spLocks noGrp="1" noChangeArrowheads="1"/>
          </p:cNvSpPr>
          <p:nvPr>
            <p:ph type="title"/>
          </p:nvPr>
        </p:nvSpPr>
        <p:spPr>
          <a:xfrm>
            <a:off x="829098" y="760484"/>
            <a:ext cx="20038590" cy="3960291"/>
          </a:xfrm>
        </p:spPr>
        <p:txBody>
          <a:bodyPr/>
          <a:lstStyle/>
          <a:p>
            <a:r>
              <a:rPr lang="en-IN" dirty="0"/>
              <a:t>PASSIVE COOLING SYSTEM FOR HOMES</a:t>
            </a:r>
            <a:br>
              <a:rPr lang="en-GB" dirty="0"/>
            </a:br>
            <a:endParaRPr lang="en-GB" dirty="0"/>
          </a:p>
        </p:txBody>
      </p:sp>
      <p:sp>
        <p:nvSpPr>
          <p:cNvPr id="2051" name="Text Box 7"/>
          <p:cNvSpPr txBox="1">
            <a:spLocks noChangeArrowheads="1"/>
          </p:cNvSpPr>
          <p:nvPr/>
        </p:nvSpPr>
        <p:spPr bwMode="auto">
          <a:xfrm>
            <a:off x="11377613" y="24791787"/>
            <a:ext cx="9253537" cy="3314566"/>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spAutoFit/>
          </a:bodyPr>
          <a:lstStyle/>
          <a:p>
            <a:pPr marL="266700" indent="-266700" defTabSz="912813" eaLnBrk="0" hangingPunct="0">
              <a:spcBef>
                <a:spcPts val="1600"/>
              </a:spcBef>
            </a:pPr>
            <a:r>
              <a:rPr lang="en-GB" sz="2000" b="1" dirty="0">
                <a:solidFill>
                  <a:schemeClr val="tx2"/>
                </a:solidFill>
                <a:latin typeface="Arial" panose="020B0604020202020204" pitchFamily="34" charset="0"/>
                <a:cs typeface="Arial" panose="020B0604020202020204" pitchFamily="34" charset="0"/>
              </a:rPr>
              <a:t>References</a:t>
            </a:r>
          </a:p>
          <a:p>
            <a:pPr marL="266700" indent="-266700" defTabSz="912813" eaLnBrk="0" hangingPunct="0">
              <a:lnSpc>
                <a:spcPct val="125000"/>
              </a:lnSpc>
              <a:spcBef>
                <a:spcPct val="30000"/>
              </a:spcBef>
              <a:buClr>
                <a:schemeClr val="tx2"/>
              </a:buClr>
              <a:buFontTx/>
              <a:buAutoNum type="arabicPeriod"/>
            </a:pPr>
            <a:r>
              <a:rPr lang="en-US" sz="1600" dirty="0">
                <a:latin typeface="+mn-lt"/>
              </a:rPr>
              <a:t>A. </a:t>
            </a:r>
            <a:r>
              <a:rPr lang="en-US" sz="1600" dirty="0" err="1">
                <a:latin typeface="+mn-lt"/>
              </a:rPr>
              <a:t>Bahga</a:t>
            </a:r>
            <a:r>
              <a:rPr lang="en-US" sz="1600" dirty="0">
                <a:latin typeface="+mn-lt"/>
              </a:rPr>
              <a:t> and V. </a:t>
            </a:r>
            <a:r>
              <a:rPr lang="en-US" sz="1600" dirty="0" err="1">
                <a:latin typeface="+mn-lt"/>
              </a:rPr>
              <a:t>Madisetti</a:t>
            </a:r>
            <a:r>
              <a:rPr lang="en-US" sz="1600" dirty="0">
                <a:latin typeface="+mn-lt"/>
              </a:rPr>
              <a:t>, </a:t>
            </a:r>
            <a:r>
              <a:rPr lang="en-US" sz="1600" i="1" dirty="0">
                <a:latin typeface="+mn-lt"/>
              </a:rPr>
              <a:t>Internet of Things: A Hands-On Approach</a:t>
            </a:r>
            <a:r>
              <a:rPr lang="en-US" sz="1600" dirty="0">
                <a:latin typeface="+mn-lt"/>
              </a:rPr>
              <a:t>. Hyderabad, India: Universities Press, 2015.</a:t>
            </a:r>
          </a:p>
          <a:p>
            <a:pPr marL="266700" indent="-266700" defTabSz="912813" eaLnBrk="0" hangingPunct="0">
              <a:lnSpc>
                <a:spcPct val="125000"/>
              </a:lnSpc>
              <a:spcBef>
                <a:spcPct val="30000"/>
              </a:spcBef>
              <a:buClr>
                <a:schemeClr val="tx2"/>
              </a:buClr>
              <a:buFontTx/>
              <a:buAutoNum type="arabicPeriod"/>
            </a:pPr>
            <a:r>
              <a:rPr lang="en-US" sz="1600" dirty="0">
                <a:latin typeface="+mn-lt"/>
              </a:rPr>
              <a:t>Passive Cooling of Buildings B. </a:t>
            </a:r>
            <a:r>
              <a:rPr lang="en-US" sz="1600" dirty="0" err="1">
                <a:latin typeface="+mn-lt"/>
              </a:rPr>
              <a:t>Givoni</a:t>
            </a:r>
            <a:r>
              <a:rPr lang="en-US" sz="1600" dirty="0">
                <a:latin typeface="+mn-lt"/>
              </a:rPr>
              <a:t>, </a:t>
            </a:r>
            <a:r>
              <a:rPr lang="en-US" sz="1600" i="1" dirty="0">
                <a:latin typeface="+mn-lt"/>
              </a:rPr>
              <a:t>Passive Cooling of Buildings</a:t>
            </a:r>
            <a:r>
              <a:rPr lang="en-US" sz="1600" dirty="0">
                <a:latin typeface="+mn-lt"/>
              </a:rPr>
              <a:t>. New York, NY: Wiley, 1994</a:t>
            </a:r>
          </a:p>
          <a:p>
            <a:pPr marL="266700" indent="-266700" defTabSz="912813" eaLnBrk="0" hangingPunct="0">
              <a:lnSpc>
                <a:spcPct val="125000"/>
              </a:lnSpc>
              <a:spcBef>
                <a:spcPct val="30000"/>
              </a:spcBef>
              <a:buClr>
                <a:schemeClr val="tx2"/>
              </a:buClr>
              <a:buFontTx/>
              <a:buAutoNum type="arabicPeriod"/>
            </a:pPr>
            <a:r>
              <a:rPr lang="en-IN" sz="1600" dirty="0">
                <a:latin typeface="+mn-lt"/>
              </a:rPr>
              <a:t>ESPRESSIF Systems, </a:t>
            </a:r>
            <a:r>
              <a:rPr lang="en-IN" sz="1600" i="1" dirty="0">
                <a:latin typeface="+mn-lt"/>
              </a:rPr>
              <a:t>ESP32 Series Datasheet</a:t>
            </a:r>
            <a:r>
              <a:rPr lang="en-IN" sz="1600" dirty="0">
                <a:latin typeface="+mn-lt"/>
              </a:rPr>
              <a:t>, </a:t>
            </a:r>
            <a:r>
              <a:rPr lang="en-IN" sz="1600" dirty="0" err="1">
                <a:latin typeface="+mn-lt"/>
              </a:rPr>
              <a:t>Espressif</a:t>
            </a:r>
            <a:r>
              <a:rPr lang="en-IN" sz="1600" dirty="0">
                <a:latin typeface="+mn-lt"/>
              </a:rPr>
              <a:t> Systems, China, 2023.</a:t>
            </a:r>
          </a:p>
          <a:p>
            <a:pPr defTabSz="912813" eaLnBrk="0" hangingPunct="0">
              <a:lnSpc>
                <a:spcPct val="125000"/>
              </a:lnSpc>
              <a:spcBef>
                <a:spcPct val="30000"/>
              </a:spcBef>
              <a:buClr>
                <a:schemeClr val="tx2"/>
              </a:buClr>
            </a:pPr>
            <a:r>
              <a:rPr lang="en-IN" sz="1600" b="1" dirty="0">
                <a:solidFill>
                  <a:schemeClr val="tx2"/>
                </a:solidFill>
                <a:latin typeface="Arial" panose="020B0604020202020204" pitchFamily="34" charset="0"/>
                <a:cs typeface="Arial" panose="020B0604020202020204" pitchFamily="34" charset="0"/>
              </a:rPr>
              <a:t> </a:t>
            </a:r>
            <a:r>
              <a:rPr lang="en-GB" sz="2000" b="1" dirty="0">
                <a:solidFill>
                  <a:schemeClr val="tx2"/>
                </a:solidFill>
                <a:latin typeface="Arial" panose="020B0604020202020204" pitchFamily="34" charset="0"/>
                <a:cs typeface="Arial" panose="020B0604020202020204" pitchFamily="34" charset="0"/>
              </a:rPr>
              <a:t>Acknowledgements</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US" sz="1600" dirty="0">
                <a:latin typeface="+mn-lt"/>
              </a:rPr>
              <a:t>Project Guide and Team Members for their valuable guidance and support</a:t>
            </a:r>
            <a:endParaRPr lang="en-GB" sz="1600" dirty="0">
              <a:latin typeface="+mn-lt"/>
              <a:cs typeface="Arial" panose="020B0604020202020204" pitchFamily="34" charset="0"/>
            </a:endParaRPr>
          </a:p>
        </p:txBody>
      </p:sp>
      <p:sp>
        <p:nvSpPr>
          <p:cNvPr id="2052" name="Text Box 8"/>
          <p:cNvSpPr txBox="1">
            <a:spLocks noChangeArrowheads="1"/>
          </p:cNvSpPr>
          <p:nvPr/>
        </p:nvSpPr>
        <p:spPr bwMode="auto">
          <a:xfrm>
            <a:off x="11377613" y="28172169"/>
            <a:ext cx="9253537" cy="1369418"/>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nchor="b">
            <a:spAutoFit/>
          </a:bodyPr>
          <a:lstStyle/>
          <a:p>
            <a:pPr marL="266700" indent="-266700" defTabSz="912813" eaLnBrk="0" hangingPunct="0">
              <a:spcBef>
                <a:spcPts val="1600"/>
              </a:spcBef>
            </a:pPr>
            <a:r>
              <a:rPr lang="en-GB" sz="1900" b="1" dirty="0">
                <a:solidFill>
                  <a:schemeClr val="tx2"/>
                </a:solidFill>
                <a:latin typeface="Arial" panose="020B0604020202020204" pitchFamily="34" charset="0"/>
                <a:cs typeface="Arial" panose="020B0604020202020204" pitchFamily="34" charset="0"/>
              </a:rPr>
              <a:t>Contact information</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GB" sz="1600" dirty="0">
                <a:latin typeface="Arial" panose="020B0604020202020204" pitchFamily="34" charset="0"/>
                <a:cs typeface="Arial" panose="020B0604020202020204" pitchFamily="34" charset="0"/>
              </a:rPr>
              <a:t>Email: 2k23me115@kiot.ac.in </a:t>
            </a:r>
            <a:r>
              <a:rPr lang="en-GB" sz="1600" b="1" dirty="0">
                <a:latin typeface="Arial" panose="020B0604020202020204" pitchFamily="34" charset="0"/>
                <a:cs typeface="Arial" panose="020B0604020202020204" pitchFamily="34" charset="0"/>
              </a:rPr>
              <a:t>|</a:t>
            </a:r>
            <a:r>
              <a:rPr lang="en-GB" sz="1600" b="1" dirty="0">
                <a:solidFill>
                  <a:schemeClr val="tx2"/>
                </a:solidFill>
                <a:latin typeface="Arial" panose="020B0604020202020204" pitchFamily="34" charset="0"/>
                <a:cs typeface="Arial" panose="020B0604020202020204" pitchFamily="34" charset="0"/>
              </a:rPr>
              <a:t> www.kiot.ac.in</a:t>
            </a:r>
            <a:endParaRPr lang="en-GB" sz="2000" b="1" dirty="0">
              <a:solidFill>
                <a:schemeClr val="tx2"/>
              </a:solidFill>
              <a:latin typeface="Arial" panose="020B0604020202020204" pitchFamily="34" charset="0"/>
              <a:cs typeface="Arial" panose="020B0604020202020204" pitchFamily="34" charset="0"/>
            </a:endParaRPr>
          </a:p>
        </p:txBody>
      </p:sp>
      <p:sp>
        <p:nvSpPr>
          <p:cNvPr id="2056" name="Rectangle 19"/>
          <p:cNvSpPr>
            <a:spLocks noChangeArrowheads="1"/>
          </p:cNvSpPr>
          <p:nvPr/>
        </p:nvSpPr>
        <p:spPr bwMode="auto">
          <a:xfrm>
            <a:off x="541066" y="27309339"/>
            <a:ext cx="3439346" cy="2446338"/>
          </a:xfrm>
          <a:prstGeom prst="rect">
            <a:avLst/>
          </a:prstGeom>
          <a:noFill/>
          <a:ln w="19050" cap="rnd">
            <a:solidFill>
              <a:schemeClr val="tx2"/>
            </a:solidFill>
            <a:prstDash val="sysDot"/>
            <a:miter lim="800000"/>
            <a:headEnd/>
            <a:tailEnd/>
          </a:ln>
        </p:spPr>
        <p:txBody>
          <a:bodyPr wrap="square" anchor="ctr"/>
          <a:lstStyle/>
          <a:p>
            <a:pPr algn="ctr"/>
            <a:r>
              <a:rPr lang="en-US" sz="1800" dirty="0">
                <a:solidFill>
                  <a:schemeClr val="tx2"/>
                </a:solidFill>
                <a:latin typeface="Arial" charset="0"/>
              </a:rPr>
              <a:t>[Insert QR Code]</a:t>
            </a:r>
          </a:p>
        </p:txBody>
      </p:sp>
      <p:sp>
        <p:nvSpPr>
          <p:cNvPr id="2057" name="Text Box 20"/>
          <p:cNvSpPr txBox="1">
            <a:spLocks noChangeArrowheads="1"/>
          </p:cNvSpPr>
          <p:nvPr/>
        </p:nvSpPr>
        <p:spPr bwMode="auto">
          <a:xfrm>
            <a:off x="6589738" y="27420913"/>
            <a:ext cx="3238500" cy="1508099"/>
          </a:xfrm>
          <a:prstGeom prst="rect">
            <a:avLst/>
          </a:prstGeom>
          <a:noFill/>
          <a:ln w="9525">
            <a:noFill/>
            <a:miter lim="800000"/>
            <a:headEnd/>
            <a:tailEnd/>
          </a:ln>
        </p:spPr>
        <p:txBody>
          <a:bodyPr lIns="91436" tIns="45717" rIns="91436" bIns="45717">
            <a:spAutoFit/>
          </a:bodyPr>
          <a:lstStyle/>
          <a:p>
            <a:r>
              <a:rPr lang="en-GB" sz="2000" b="1" dirty="0">
                <a:solidFill>
                  <a:schemeClr val="tx2"/>
                </a:solidFill>
                <a:latin typeface="Arial" panose="020B0604020202020204" pitchFamily="34" charset="0"/>
                <a:cs typeface="Arial" panose="020B0604020202020204" pitchFamily="34" charset="0"/>
              </a:rPr>
              <a:t>QR Code — Project Report (PDF) | Source Code Repository | Demonstration Video</a:t>
            </a:r>
            <a:endParaRPr lang="en-US" sz="1800" dirty="0">
              <a:latin typeface="Arial" panose="020B0604020202020204" pitchFamily="34" charset="0"/>
              <a:cs typeface="Arial" panose="020B0604020202020204" pitchFamily="34" charset="0"/>
            </a:endParaRPr>
          </a:p>
        </p:txBody>
      </p:sp>
      <p:sp>
        <p:nvSpPr>
          <p:cNvPr id="14" name="Content Placeholder 1">
            <a:extLst>
              <a:ext uri="{FF2B5EF4-FFF2-40B4-BE49-F238E27FC236}">
                <a16:creationId xmlns:a16="http://schemas.microsoft.com/office/drawing/2014/main" id="{53AB2554-C850-4719-A3D9-8A7C5FE0E37B}"/>
              </a:ext>
            </a:extLst>
          </p:cNvPr>
          <p:cNvSpPr txBox="1">
            <a:spLocks/>
          </p:cNvSpPr>
          <p:nvPr/>
        </p:nvSpPr>
        <p:spPr bwMode="auto">
          <a:xfrm>
            <a:off x="10987089" y="5631457"/>
            <a:ext cx="9644062" cy="19160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60000" indent="-360000" algn="l" defTabSz="2952750" rtl="0" eaLnBrk="1" fontAlgn="base" hangingPunct="1">
              <a:lnSpc>
                <a:spcPct val="125000"/>
              </a:lnSpc>
              <a:spcBef>
                <a:spcPts val="1400"/>
              </a:spcBef>
              <a:spcAft>
                <a:spcPct val="0"/>
              </a:spcAft>
              <a:buClr>
                <a:schemeClr val="tx2"/>
              </a:buClr>
              <a:buChar char="•"/>
              <a:defRPr sz="1900">
                <a:solidFill>
                  <a:schemeClr val="tx1"/>
                </a:solidFill>
                <a:latin typeface="Arial" panose="020B0604020202020204" pitchFamily="34" charset="0"/>
                <a:ea typeface="+mn-ea"/>
                <a:cs typeface="Arial" panose="020B0604020202020204" pitchFamily="34" charset="0"/>
              </a:defRPr>
            </a:lvl1pPr>
            <a:lvl2pPr marL="720000" indent="-360000" algn="l" defTabSz="2952750" rtl="0" eaLnBrk="1" fontAlgn="base" hangingPunct="1">
              <a:lnSpc>
                <a:spcPct val="125000"/>
              </a:lnSpc>
              <a:spcBef>
                <a:spcPts val="1000"/>
              </a:spcBef>
              <a:spcAft>
                <a:spcPct val="0"/>
              </a:spcAft>
              <a:buClr>
                <a:schemeClr val="tx2"/>
              </a:buClr>
              <a:buFont typeface="Arial" pitchFamily="34" charset="0"/>
              <a:buChar char="•"/>
              <a:defRPr sz="1900">
                <a:solidFill>
                  <a:schemeClr val="tx1"/>
                </a:solidFill>
                <a:latin typeface="Arial" panose="020B0604020202020204" pitchFamily="34" charset="0"/>
                <a:cs typeface="Arial" panose="020B0604020202020204" pitchFamily="34" charset="0"/>
              </a:defRPr>
            </a:lvl2pPr>
            <a:lvl3pPr marL="1080000" indent="-360000" algn="l" defTabSz="2952750" rtl="0" eaLnBrk="1" fontAlgn="base" hangingPunct="1">
              <a:lnSpc>
                <a:spcPct val="125000"/>
              </a:lnSpc>
              <a:spcBef>
                <a:spcPts val="600"/>
              </a:spcBef>
              <a:spcAft>
                <a:spcPct val="0"/>
              </a:spcAft>
              <a:buClr>
                <a:schemeClr val="tx2"/>
              </a:buClr>
              <a:buFont typeface="Rdg Vesta" pitchFamily="2" charset="0"/>
              <a:buChar char="−"/>
              <a:defRPr sz="1600">
                <a:solidFill>
                  <a:schemeClr val="tx1"/>
                </a:solidFill>
                <a:latin typeface="Arial" panose="020B0604020202020204" pitchFamily="34" charset="0"/>
                <a:cs typeface="Arial" panose="020B0604020202020204" pitchFamily="34" charset="0"/>
              </a:defRPr>
            </a:lvl3pPr>
            <a:lvl4pPr marL="1350000" indent="-270000" algn="l" defTabSz="2952750" rtl="0" eaLnBrk="1" fontAlgn="base" hangingPunct="1">
              <a:lnSpc>
                <a:spcPct val="125000"/>
              </a:lnSpc>
              <a:spcBef>
                <a:spcPts val="500"/>
              </a:spcBef>
              <a:spcAft>
                <a:spcPct val="0"/>
              </a:spcAft>
              <a:buClr>
                <a:schemeClr val="tx2"/>
              </a:buClr>
              <a:buFont typeface="Arial" pitchFamily="34" charset="0"/>
              <a:buChar char="•"/>
              <a:defRPr sz="1600">
                <a:solidFill>
                  <a:schemeClr val="tx1"/>
                </a:solidFill>
                <a:latin typeface="Arial" panose="020B0604020202020204" pitchFamily="34" charset="0"/>
                <a:cs typeface="Arial" panose="020B0604020202020204" pitchFamily="34" charset="0"/>
              </a:defRPr>
            </a:lvl4pPr>
            <a:lvl5pPr marL="1530000" indent="-180000" algn="l" defTabSz="2952750" rtl="0" eaLnBrk="1" fontAlgn="base" hangingPunct="1">
              <a:lnSpc>
                <a:spcPct val="125000"/>
              </a:lnSpc>
              <a:spcBef>
                <a:spcPts val="500"/>
              </a:spcBef>
              <a:spcAft>
                <a:spcPct val="0"/>
              </a:spcAft>
              <a:buClr>
                <a:schemeClr val="tx2"/>
              </a:buClr>
              <a:buFont typeface="Rdg Vesta" pitchFamily="2" charset="0"/>
              <a:buChar char="−"/>
              <a:defRPr sz="1200">
                <a:solidFill>
                  <a:schemeClr val="tx1"/>
                </a:solidFill>
                <a:latin typeface="Arial" panose="020B0604020202020204" pitchFamily="34" charset="0"/>
                <a:cs typeface="Arial" panose="020B0604020202020204" pitchFamily="34" charset="0"/>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a:lstStyle>
          <a:p>
            <a:pPr marL="446088" indent="-446088">
              <a:spcBef>
                <a:spcPts val="0"/>
              </a:spcBef>
              <a:buNone/>
            </a:pPr>
            <a:r>
              <a:rPr lang="en-GB" sz="3000" b="1" kern="1200" dirty="0">
                <a:solidFill>
                  <a:schemeClr val="tx2"/>
                </a:solidFill>
                <a:latin typeface="Arial" panose="020B0604020202020204" pitchFamily="34" charset="0"/>
                <a:cs typeface="Arial" panose="020B0604020202020204" pitchFamily="34" charset="0"/>
              </a:rPr>
              <a:t>  Dataset / Input Data (if applicable)</a:t>
            </a:r>
          </a:p>
          <a:p>
            <a:pPr marL="358775" indent="-358775" algn="just">
              <a:spcBef>
                <a:spcPts val="600"/>
              </a:spcBef>
              <a:buNone/>
            </a:pPr>
            <a:r>
              <a:rPr lang="en-US" sz="1800" dirty="0"/>
              <a:t>     </a:t>
            </a:r>
            <a:r>
              <a:rPr lang="en-US" sz="1600" dirty="0"/>
              <a:t>Indoor and outdoor temperature readings collected using DS18B20 temperature sensors at regular time intervals were used as the input data for performance evaluation.</a:t>
            </a:r>
            <a:endParaRPr lang="en-GB" sz="16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Experimental Setup</a:t>
            </a:r>
          </a:p>
          <a:p>
            <a:pPr algn="just"/>
            <a:r>
              <a:rPr lang="en-US" sz="1600" dirty="0"/>
              <a:t>A scaled house prototype was constructed using insulating materials, reflective roofing, and natural ventilation. An ESP32 with two DS18B20 temperature sensors was used to measure and record indoor and outdoor temperatures for performance evaluation.</a:t>
            </a:r>
            <a:endParaRPr lang="en-GB" sz="1600" dirty="0"/>
          </a:p>
          <a:p>
            <a:pPr marL="0" indent="0" algn="just">
              <a:buNone/>
            </a:pPr>
            <a:r>
              <a:rPr lang="en-GB" sz="16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Results</a:t>
            </a:r>
          </a:p>
          <a:p>
            <a:pPr marL="446088" indent="-446088">
              <a:spcBef>
                <a:spcPts val="2600"/>
              </a:spcBef>
              <a:buNone/>
            </a:pPr>
            <a:endParaRPr lang="en-GB" sz="3000" b="1" dirty="0">
              <a:solidFill>
                <a:schemeClr val="tx2"/>
              </a:solidFill>
            </a:endParaRPr>
          </a:p>
          <a:p>
            <a:pPr marL="446088" indent="-446088">
              <a:spcBef>
                <a:spcPts val="2600"/>
              </a:spcBef>
              <a:buNone/>
            </a:pPr>
            <a:r>
              <a:rPr lang="en-GB" sz="3000" b="1" kern="1200" dirty="0">
                <a:solidFill>
                  <a:schemeClr val="tx2"/>
                </a:solidFill>
                <a:latin typeface="Arial" panose="020B0604020202020204" pitchFamily="34" charset="0"/>
                <a:cs typeface="Arial" panose="020B0604020202020204" pitchFamily="34" charset="0"/>
              </a:rPr>
              <a:t>   Performance Evaluation</a:t>
            </a:r>
          </a:p>
          <a:p>
            <a:pPr>
              <a:spcBef>
                <a:spcPts val="700"/>
              </a:spcBef>
            </a:pPr>
            <a:endParaRPr lang="en-GB" sz="1000" dirty="0"/>
          </a:p>
          <a:p>
            <a:pPr>
              <a:spcBef>
                <a:spcPts val="700"/>
              </a:spcBef>
            </a:pPr>
            <a:endParaRPr lang="en-GB" sz="1000" dirty="0"/>
          </a:p>
          <a:p>
            <a:pPr>
              <a:spcBef>
                <a:spcPts val="700"/>
              </a:spcBef>
            </a:pPr>
            <a:endParaRPr lang="en-GB" sz="1000" dirty="0"/>
          </a:p>
          <a:p>
            <a:pPr>
              <a:spcBef>
                <a:spcPts val="700"/>
              </a:spcBef>
            </a:pPr>
            <a:endParaRPr lang="en-GB" sz="1000" dirty="0"/>
          </a:p>
          <a:p>
            <a:pPr marL="446088" indent="-446088">
              <a:spcBef>
                <a:spcPts val="2600"/>
              </a:spcBef>
              <a:buNone/>
            </a:pPr>
            <a:r>
              <a:rPr lang="en-GB" sz="1000" dirty="0"/>
              <a:t>         </a:t>
            </a:r>
            <a:r>
              <a:rPr lang="en-GB" sz="3000" b="1" kern="1200" dirty="0">
                <a:solidFill>
                  <a:schemeClr val="tx2"/>
                </a:solidFill>
                <a:latin typeface="Arial" panose="020B0604020202020204" pitchFamily="34" charset="0"/>
                <a:cs typeface="Arial" panose="020B0604020202020204" pitchFamily="34" charset="0"/>
              </a:rPr>
              <a:t>Testing and Validation</a:t>
            </a:r>
          </a:p>
          <a:p>
            <a:pPr marL="358775" indent="-358775" algn="just">
              <a:spcBef>
                <a:spcPts val="600"/>
              </a:spcBef>
              <a:buNone/>
            </a:pPr>
            <a:r>
              <a:rPr lang="en-US" sz="1600" dirty="0"/>
              <a:t>      The developed prototype was tested under real environmental conditions, and the recorded temperature data validated its cooling performance and reliability.</a:t>
            </a:r>
            <a:endParaRPr lang="en-GB" sz="16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Challenges Encountered</a:t>
            </a:r>
          </a:p>
          <a:p>
            <a:pPr marL="714375" indent="-357375">
              <a:spcBef>
                <a:spcPts val="600"/>
              </a:spcBef>
              <a:buFont typeface="Arial" pitchFamily="34" charset="0"/>
              <a:buChar char="•"/>
            </a:pPr>
            <a:r>
              <a:rPr lang="en-GB" sz="1600" kern="1200" dirty="0"/>
              <a:t>Challenge 1:</a:t>
            </a:r>
            <a:r>
              <a:rPr lang="en-US" sz="1600" dirty="0"/>
              <a:t>Achieving effective insulation with low-cost materials.</a:t>
            </a:r>
            <a:endParaRPr lang="en-GB" sz="1600" kern="1200" dirty="0"/>
          </a:p>
          <a:p>
            <a:pPr marL="714375" indent="-357375">
              <a:spcBef>
                <a:spcPts val="600"/>
              </a:spcBef>
              <a:buFont typeface="Arial" pitchFamily="34" charset="0"/>
              <a:buChar char="•"/>
            </a:pPr>
            <a:r>
              <a:rPr lang="en-GB" sz="1600" kern="1200" dirty="0"/>
              <a:t>Challenge 2:</a:t>
            </a:r>
            <a:r>
              <a:rPr lang="en-IN" sz="1600" dirty="0"/>
              <a:t>Maintaining accurate temperature monitoring and data logging.</a:t>
            </a:r>
            <a:endParaRPr lang="en-GB" sz="1600" dirty="0"/>
          </a:p>
          <a:p>
            <a:pPr marL="357000" indent="0">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Solutions Implemented</a:t>
            </a:r>
          </a:p>
          <a:p>
            <a:pPr marL="714375" indent="-357375">
              <a:spcBef>
                <a:spcPts val="600"/>
              </a:spcBef>
              <a:buFont typeface="Arial" pitchFamily="34" charset="0"/>
              <a:buChar char="•"/>
            </a:pPr>
            <a:r>
              <a:rPr lang="en-GB" sz="1600" kern="1200" dirty="0"/>
              <a:t>Solution 1:</a:t>
            </a:r>
            <a:r>
              <a:rPr lang="en-US" sz="1600" dirty="0"/>
              <a:t>Used reflective insulation and natural ventilation to reduce heat gain.</a:t>
            </a:r>
            <a:endParaRPr lang="en-GB" sz="1600" kern="1200" dirty="0"/>
          </a:p>
          <a:p>
            <a:pPr marL="714375" indent="-357375">
              <a:spcBef>
                <a:spcPts val="600"/>
              </a:spcBef>
              <a:buFont typeface="Arial" pitchFamily="34" charset="0"/>
              <a:buChar char="•"/>
            </a:pPr>
            <a:r>
              <a:rPr lang="en-GB" sz="1600" kern="1200" dirty="0"/>
              <a:t>Solution 2:</a:t>
            </a:r>
            <a:r>
              <a:rPr lang="en-US" sz="1600" dirty="0"/>
              <a:t>Integrated an ESP32-based system for real-time temperature monitoring and data logging.</a:t>
            </a:r>
          </a:p>
          <a:p>
            <a:pPr marL="357000" indent="0">
              <a:spcBef>
                <a:spcPts val="600"/>
              </a:spcBef>
              <a:buNone/>
            </a:pPr>
            <a:r>
              <a:rPr lang="en-GB" sz="1700" dirty="0"/>
              <a:t> </a:t>
            </a:r>
            <a:r>
              <a:rPr lang="en-GB" sz="3000" b="1" kern="1200" dirty="0">
                <a:solidFill>
                  <a:schemeClr val="tx2"/>
                </a:solidFill>
                <a:latin typeface="Arial" panose="020B0604020202020204" pitchFamily="34" charset="0"/>
                <a:cs typeface="Arial" panose="020B0604020202020204" pitchFamily="34" charset="0"/>
              </a:rPr>
              <a:t>Innovation / Novel Features</a:t>
            </a:r>
          </a:p>
          <a:p>
            <a:pPr marL="357000" indent="0">
              <a:spcBef>
                <a:spcPts val="600"/>
              </a:spcBef>
              <a:buNone/>
            </a:pPr>
            <a:r>
              <a:rPr lang="en-US" sz="1600" dirty="0"/>
              <a:t>Combines passive cooling techniques with an ESP32-based real-time temperature monitoring system for an energy-efficient and low-cost residential cooling solution</a:t>
            </a:r>
            <a:r>
              <a:rPr lang="en-US" sz="1600" b="1" dirty="0"/>
              <a:t>.</a:t>
            </a:r>
            <a:endParaRPr lang="en-US" sz="1600" dirty="0"/>
          </a:p>
          <a:p>
            <a:pPr marL="358775" indent="-358775">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Applications</a:t>
            </a:r>
          </a:p>
          <a:p>
            <a:r>
              <a:rPr lang="en-US" sz="1600" dirty="0"/>
              <a:t>Residential buildings for energy-efficient cooling. </a:t>
            </a:r>
          </a:p>
          <a:p>
            <a:r>
              <a:rPr lang="en-US" sz="1600" dirty="0"/>
              <a:t>Low-cost and eco-friendly housing in tropical regions.</a:t>
            </a:r>
          </a:p>
          <a:p>
            <a:pPr marL="0" indent="0">
              <a:buNone/>
            </a:pPr>
            <a:r>
              <a:rPr lang="en-US" sz="1800" b="1" kern="1200" dirty="0">
                <a:solidFill>
                  <a:schemeClr val="tx2"/>
                </a:solidFill>
                <a:latin typeface="Arial" panose="020B0604020202020204" pitchFamily="34" charset="0"/>
                <a:cs typeface="Arial" panose="020B0604020202020204" pitchFamily="34" charset="0"/>
              </a:rPr>
              <a:t>       </a:t>
            </a:r>
            <a:r>
              <a:rPr lang="en-GB" sz="3000" b="1" kern="1200" dirty="0">
                <a:solidFill>
                  <a:schemeClr val="tx2"/>
                </a:solidFill>
                <a:latin typeface="Arial" panose="020B0604020202020204" pitchFamily="34" charset="0"/>
                <a:cs typeface="Arial" panose="020B0604020202020204" pitchFamily="34" charset="0"/>
              </a:rPr>
              <a:t>Future Scope</a:t>
            </a:r>
          </a:p>
          <a:p>
            <a:pPr marL="358775" indent="-358775" algn="just">
              <a:spcBef>
                <a:spcPts val="600"/>
              </a:spcBef>
              <a:buNone/>
            </a:pPr>
            <a:r>
              <a:rPr lang="en-US" sz="1600" dirty="0"/>
              <a:t>      The system can be enhanced with IoT-based remote monitoring, AI-driven temperature prediction, and solar-powered operation.</a:t>
            </a:r>
          </a:p>
          <a:p>
            <a:pPr marL="358775" indent="-358775" algn="just">
              <a:spcBef>
                <a:spcPts val="600"/>
              </a:spcBef>
              <a:buNone/>
            </a:pPr>
            <a:r>
              <a:rPr lang="en-GB" sz="3000" b="1" kern="1200" dirty="0">
                <a:solidFill>
                  <a:schemeClr val="tx2"/>
                </a:solidFill>
                <a:latin typeface="Arial" panose="020B0604020202020204" pitchFamily="34" charset="0"/>
                <a:cs typeface="Arial" panose="020B0604020202020204" pitchFamily="34" charset="0"/>
              </a:rPr>
              <a:t>    Project Outcomes</a:t>
            </a:r>
          </a:p>
          <a:p>
            <a:pPr marL="358775" indent="-358775" algn="just">
              <a:lnSpc>
                <a:spcPct val="100000"/>
              </a:lnSpc>
              <a:spcBef>
                <a:spcPts val="600"/>
              </a:spcBef>
              <a:buNone/>
            </a:pPr>
            <a:r>
              <a:rPr lang="en-US" sz="1800" dirty="0"/>
              <a:t>      </a:t>
            </a:r>
            <a:r>
              <a:rPr lang="en-US" sz="1600" dirty="0"/>
              <a:t>Achieved a 5–7°C reduction in indoor temperature, improving thermal comfort and reducing energy consumption..</a:t>
            </a:r>
            <a:r>
              <a:rPr lang="en-GB" sz="3000" b="1" kern="1200" dirty="0">
                <a:solidFill>
                  <a:schemeClr val="tx2"/>
                </a:solidFill>
                <a:latin typeface="Arial" panose="020B0604020202020204" pitchFamily="34" charset="0"/>
                <a:cs typeface="Arial" panose="020B0604020202020204" pitchFamily="34" charset="0"/>
              </a:rPr>
              <a:t>	</a:t>
            </a:r>
            <a:endParaRPr lang="en-GB" sz="3000" b="1" dirty="0">
              <a:solidFill>
                <a:schemeClr val="tx2"/>
              </a:solidFill>
            </a:endParaRPr>
          </a:p>
          <a:p>
            <a:pPr marL="358775" indent="-358775" algn="just">
              <a:spcBef>
                <a:spcPts val="600"/>
              </a:spcBef>
              <a:buNone/>
            </a:pPr>
            <a:r>
              <a:rPr lang="en-GB" sz="3000" b="1" kern="1200" dirty="0">
                <a:solidFill>
                  <a:schemeClr val="tx2"/>
                </a:solidFill>
                <a:latin typeface="Arial" panose="020B0604020202020204" pitchFamily="34" charset="0"/>
                <a:cs typeface="Arial" panose="020B0604020202020204" pitchFamily="34" charset="0"/>
              </a:rPr>
              <a:t>    Skills Acquired</a:t>
            </a:r>
          </a:p>
          <a:p>
            <a:pPr marL="714375" indent="-357375">
              <a:spcBef>
                <a:spcPts val="600"/>
              </a:spcBef>
              <a:buFont typeface="Arial" pitchFamily="34" charset="0"/>
              <a:buChar char="•"/>
            </a:pPr>
            <a:r>
              <a:rPr lang="en-GB" sz="1700" b="1" kern="1200" dirty="0"/>
              <a:t>Technical skill 1:</a:t>
            </a:r>
            <a:r>
              <a:rPr lang="en-IN" sz="1800" b="1" dirty="0"/>
              <a:t> </a:t>
            </a:r>
            <a:r>
              <a:rPr lang="en-IN" sz="1600" dirty="0"/>
              <a:t>ESP32 Programming, Embedded C, Sensor Interfacing, Prototype Development, Temperature Monitoring, Data Analysis.</a:t>
            </a:r>
            <a:endParaRPr lang="en-GB" sz="1600" kern="1200" dirty="0"/>
          </a:p>
          <a:p>
            <a:pPr marL="714375" indent="-357375">
              <a:spcBef>
                <a:spcPts val="600"/>
              </a:spcBef>
              <a:buFont typeface="Arial" pitchFamily="34" charset="0"/>
              <a:buChar char="•"/>
            </a:pPr>
            <a:r>
              <a:rPr lang="en-GB" sz="1700" b="1" kern="1200" dirty="0"/>
              <a:t>Soft skill 1:</a:t>
            </a:r>
            <a:r>
              <a:rPr lang="en-US" sz="1800" dirty="0"/>
              <a:t> Teamwork, Problem Solving, Communication, Time Management.</a:t>
            </a:r>
            <a:endParaRPr lang="en-GB" sz="1700" b="1" kern="1200" dirty="0"/>
          </a:p>
        </p:txBody>
      </p:sp>
      <p:sp>
        <p:nvSpPr>
          <p:cNvPr id="6" name="AutoShape 4" descr="System Architecture Diagram">
            <a:extLst>
              <a:ext uri="{FF2B5EF4-FFF2-40B4-BE49-F238E27FC236}">
                <a16:creationId xmlns:a16="http://schemas.microsoft.com/office/drawing/2014/main" id="{A6AC6A17-B006-4706-AC6C-FA7856873C7E}"/>
              </a:ext>
            </a:extLst>
          </p:cNvPr>
          <p:cNvSpPr>
            <a:spLocks noChangeAspect="1" noChangeArrowheads="1"/>
          </p:cNvSpPr>
          <p:nvPr/>
        </p:nvSpPr>
        <p:spPr bwMode="auto">
          <a:xfrm>
            <a:off x="10541000" y="149875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2F5E453A-F776-4351-BBB7-8FB76216D75E}"/>
              </a:ext>
            </a:extLst>
          </p:cNvPr>
          <p:cNvPicPr>
            <a:picLocks noChangeAspect="1"/>
          </p:cNvPicPr>
          <p:nvPr/>
        </p:nvPicPr>
        <p:blipFill>
          <a:blip r:embed="rId3"/>
          <a:stretch>
            <a:fillRect/>
          </a:stretch>
        </p:blipFill>
        <p:spPr>
          <a:xfrm>
            <a:off x="2125242" y="17307757"/>
            <a:ext cx="5832648" cy="1932205"/>
          </a:xfrm>
          <a:prstGeom prst="rect">
            <a:avLst/>
          </a:prstGeom>
        </p:spPr>
      </p:pic>
      <p:pic>
        <p:nvPicPr>
          <p:cNvPr id="13" name="Picture 12">
            <a:extLst>
              <a:ext uri="{FF2B5EF4-FFF2-40B4-BE49-F238E27FC236}">
                <a16:creationId xmlns:a16="http://schemas.microsoft.com/office/drawing/2014/main" id="{06B4989E-FD22-46AA-B35F-487F8602B23B}"/>
              </a:ext>
            </a:extLst>
          </p:cNvPr>
          <p:cNvPicPr>
            <a:picLocks noChangeAspect="1"/>
          </p:cNvPicPr>
          <p:nvPr/>
        </p:nvPicPr>
        <p:blipFill>
          <a:blip r:embed="rId4"/>
          <a:stretch>
            <a:fillRect/>
          </a:stretch>
        </p:blipFill>
        <p:spPr>
          <a:xfrm>
            <a:off x="2125242" y="20183332"/>
            <a:ext cx="5832648" cy="1899845"/>
          </a:xfrm>
          <a:prstGeom prst="rect">
            <a:avLst/>
          </a:prstGeom>
        </p:spPr>
      </p:pic>
      <p:pic>
        <p:nvPicPr>
          <p:cNvPr id="18" name="Picture 17">
            <a:extLst>
              <a:ext uri="{FF2B5EF4-FFF2-40B4-BE49-F238E27FC236}">
                <a16:creationId xmlns:a16="http://schemas.microsoft.com/office/drawing/2014/main" id="{96B0F454-3EEA-46A4-9CFF-166DA3A378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2346" y="9379347"/>
            <a:ext cx="5034662" cy="1367943"/>
          </a:xfrm>
          <a:prstGeom prst="rect">
            <a:avLst/>
          </a:prstGeom>
        </p:spPr>
      </p:pic>
      <p:pic>
        <p:nvPicPr>
          <p:cNvPr id="20" name="Picture 19">
            <a:extLst>
              <a:ext uri="{FF2B5EF4-FFF2-40B4-BE49-F238E27FC236}">
                <a16:creationId xmlns:a16="http://schemas.microsoft.com/office/drawing/2014/main" id="{F3EFE367-3A8B-4B6B-B056-2CE3137ADD59}"/>
              </a:ext>
            </a:extLst>
          </p:cNvPr>
          <p:cNvPicPr>
            <a:picLocks noChangeAspect="1"/>
          </p:cNvPicPr>
          <p:nvPr/>
        </p:nvPicPr>
        <p:blipFill>
          <a:blip r:embed="rId6"/>
          <a:stretch>
            <a:fillRect/>
          </a:stretch>
        </p:blipFill>
        <p:spPr>
          <a:xfrm>
            <a:off x="12062346" y="11251555"/>
            <a:ext cx="5034662" cy="1461423"/>
          </a:xfrm>
          <a:prstGeom prst="rect">
            <a:avLst/>
          </a:prstGeom>
        </p:spPr>
      </p:pic>
    </p:spTree>
    <p:extLst>
      <p:ext uri="{BB962C8B-B14F-4D97-AF65-F5344CB8AC3E}">
        <p14:creationId xmlns:p14="http://schemas.microsoft.com/office/powerpoint/2010/main" val="3351423776"/>
      </p:ext>
    </p:extLst>
  </p:cSld>
  <p:clrMapOvr>
    <a:masterClrMapping/>
  </p:clrMapOvr>
</p:sld>
</file>

<file path=ppt/theme/theme1.xml><?xml version="1.0" encoding="utf-8"?>
<a:theme xmlns:a="http://schemas.openxmlformats.org/drawingml/2006/main" name="KIOT #CE4F2F">
  <a:themeElements>
    <a:clrScheme name="01 KIOT Conference #178473">
      <a:dk1>
        <a:srgbClr val="000000"/>
      </a:dk1>
      <a:lt1>
        <a:srgbClr val="FFFFFF"/>
      </a:lt1>
      <a:dk2>
        <a:srgbClr val="158473"/>
      </a:dk2>
      <a:lt2>
        <a:srgbClr val="808080"/>
      </a:lt2>
      <a:accent1>
        <a:srgbClr val="7AFDE9"/>
      </a:accent1>
      <a:accent2>
        <a:srgbClr val="5BD1BF"/>
      </a:accent2>
      <a:accent3>
        <a:srgbClr val="FFFFFF"/>
      </a:accent3>
      <a:accent4>
        <a:srgbClr val="086154"/>
      </a:accent4>
      <a:accent5>
        <a:srgbClr val="5BD1BF"/>
      </a:accent5>
      <a:accent6>
        <a:srgbClr val="000000"/>
      </a:accent6>
      <a:hlink>
        <a:srgbClr val="158473"/>
      </a:hlink>
      <a:folHlink>
        <a:srgbClr val="08615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KIOT Conference 2022 portrait HT v2.pptx" id="{F18A0F39-BBEB-43DB-BFD6-81A744C52318}" vid="{8D687D27-B946-4FBA-8150-9F172FBFD3DC}"/>
    </a:ext>
  </a:extLst>
</a:theme>
</file>

<file path=ppt/theme/theme2.xml><?xml version="1.0" encoding="utf-8"?>
<a:theme xmlns:a="http://schemas.openxmlformats.org/drawingml/2006/main" name="1_KIOT #CE4F2F">
  <a:themeElements>
    <a:clrScheme name="02 KIOT Conference #E25C3A">
      <a:dk1>
        <a:srgbClr val="000000"/>
      </a:dk1>
      <a:lt1>
        <a:srgbClr val="FFFFFF"/>
      </a:lt1>
      <a:dk2>
        <a:srgbClr val="CE4F2F"/>
      </a:dk2>
      <a:lt2>
        <a:srgbClr val="808080"/>
      </a:lt2>
      <a:accent1>
        <a:srgbClr val="FEC5B6"/>
      </a:accent1>
      <a:accent2>
        <a:srgbClr val="F79E87"/>
      </a:accent2>
      <a:accent3>
        <a:srgbClr val="FFFFFF"/>
      </a:accent3>
      <a:accent4>
        <a:srgbClr val="A8361A"/>
      </a:accent4>
      <a:accent5>
        <a:srgbClr val="F79E87"/>
      </a:accent5>
      <a:accent6>
        <a:srgbClr val="000000"/>
      </a:accent6>
      <a:hlink>
        <a:srgbClr val="CE4F2F"/>
      </a:hlink>
      <a:folHlink>
        <a:srgbClr val="A8361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DA16372C-C8AE-4BEF-9AB6-EF282675B510}"/>
    </a:ext>
  </a:extLst>
</a:theme>
</file>

<file path=ppt/theme/theme3.xml><?xml version="1.0" encoding="utf-8"?>
<a:theme xmlns:a="http://schemas.openxmlformats.org/drawingml/2006/main" name="KIOT #C74486">
  <a:themeElements>
    <a:clrScheme name="03 KIOT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EDDCA094-D80C-4D1A-9F56-52CCF7C6B5E1}"/>
    </a:ext>
  </a:extLst>
</a:theme>
</file>

<file path=ppt/theme/theme4.xml><?xml version="1.0" encoding="utf-8"?>
<a:theme xmlns:a="http://schemas.openxmlformats.org/drawingml/2006/main" name="KIOT #7F6BAE">
  <a:themeElements>
    <a:clrScheme name="04 KIOT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52FD576F-A30F-42C3-B3D4-FC5E4D78EA82}"/>
    </a:ext>
  </a:extLst>
</a:theme>
</file>

<file path=ppt/theme/theme5.xml><?xml version="1.0" encoding="utf-8"?>
<a:theme xmlns:a="http://schemas.openxmlformats.org/drawingml/2006/main" name="KIOT #6F7D14">
  <a:themeElements>
    <a:clrScheme name="05 KIOT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AF9CF2F7-CEBC-4757-A562-538A8568A1B6}"/>
    </a:ext>
  </a:extLst>
</a:theme>
</file>

<file path=ppt/theme/theme6.xml><?xml version="1.0" encoding="utf-8"?>
<a:theme xmlns:a="http://schemas.openxmlformats.org/drawingml/2006/main" name="1_KIOT conference poster portrait">
  <a:themeElements>
    <a:clrScheme name="06 KIOT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1757E75D-6B58-43A6-AFC1-7824D5CC8EBB}"/>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KIOT_PBL_Poster_Template</Template>
  <TotalTime>279</TotalTime>
  <Words>887</Words>
  <Application>Microsoft Office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2</vt:i4>
      </vt:variant>
      <vt:variant>
        <vt:lpstr>Theme</vt:lpstr>
      </vt:variant>
      <vt:variant>
        <vt:i4>6</vt:i4>
      </vt:variant>
      <vt:variant>
        <vt:lpstr>Slide Titles</vt:lpstr>
      </vt:variant>
      <vt:variant>
        <vt:i4>1</vt:i4>
      </vt:variant>
    </vt:vector>
  </HeadingPairs>
  <TitlesOfParts>
    <vt:vector size="9" baseType="lpstr">
      <vt:lpstr>Arial</vt:lpstr>
      <vt:lpstr>Rdg Vesta</vt:lpstr>
      <vt:lpstr>KIOT #CE4F2F</vt:lpstr>
      <vt:lpstr>1_KIOT #CE4F2F</vt:lpstr>
      <vt:lpstr>KIOT #C74486</vt:lpstr>
      <vt:lpstr>KIOT #7F6BAE</vt:lpstr>
      <vt:lpstr>KIOT #6F7D14</vt:lpstr>
      <vt:lpstr>1_KIOT conference poster portrait</vt:lpstr>
      <vt:lpstr>PASSIVE COOLING SYSTEM FOR HOMES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PASSIVE COOLING SYSTEM FOR HOMES </dc:title>
  <dc:subject>Research and conference poster</dc:subject>
  <dc:creator>Shanmugam sivaraman</dc:creator>
  <cp:lastModifiedBy>HP</cp:lastModifiedBy>
  <cp:revision>22</cp:revision>
  <dcterms:created xsi:type="dcterms:W3CDTF">2026-07-26T14:23:05Z</dcterms:created>
  <dcterms:modified xsi:type="dcterms:W3CDTF">2026-08-01T14:44:39Z</dcterms:modified>
</cp:coreProperties>
</file>